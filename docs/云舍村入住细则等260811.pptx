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9" r:id="rId4"/>
    <p:sldId id="271" r:id="rId5"/>
    <p:sldId id="272" r:id="rId6"/>
    <p:sldId id="261" r:id="rId7"/>
    <p:sldId id="267" r:id="rId8"/>
    <p:sldId id="268" r:id="rId9"/>
    <p:sldId id="263" r:id="rId10"/>
    <p:sldId id="264" r:id="rId11"/>
    <p:sldId id="265" r:id="rId12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B41B938-3355-471B-9B6E-3FD9F12B1EE1}" styleName="补充样式20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lastCol>
      <a:tcTxStyle b="on">
        <a:fontRef idx="none">
          <a:schemeClr val="tx1"/>
        </a:fontRef>
      </a:tcTxStyle>
      <a:tcStyle>
        <a:tcBdr/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chemeClr val="accent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2"/>
        </a:fontRef>
      </a:tcTxStyle>
      <a:tcStyle>
        <a:tcBdr/>
        <a:fill>
          <a:gradFill>
            <a:gsLst>
              <a:gs pos="0">
                <a:schemeClr val="accent2">
                  <a:lumMod val="40000"/>
                  <a:lumOff val="60000"/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a:fill>
      </a:tcStyle>
    </a:firstRow>
  </a:tblStyle>
  <a:tblStyle styleId="{CADFFDED-71B5-4089-BDE4-F04CE8E0D2E4}" styleName="补充样式20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lastCol>
      <a:tcTxStyle b="on">
        <a:fontRef idx="none">
          <a:schemeClr val="tx1"/>
        </a:fontRef>
      </a:tcTxStyle>
      <a:tcStyle>
        <a:tcBdr/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chemeClr val="accent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2"/>
        </a:fontRef>
      </a:tcTxStyle>
      <a:tcStyle>
        <a:tcBdr/>
        <a:fill>
          <a:gradFill>
            <a:gsLst>
              <a:gs pos="0">
                <a:schemeClr val="accent2">
                  <a:lumMod val="40000"/>
                  <a:lumOff val="60000"/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a:fill>
      </a:tcStyle>
    </a:firstRow>
  </a:tblStyle>
  <a:tblStyle styleId="{9DB17C4E-C640-4BE9-8BAC-EAF23F2CB908}" styleName="补充样式20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lastCol>
      <a:tcTxStyle b="on">
        <a:fontRef idx="none">
          <a:schemeClr val="tx1"/>
        </a:fontRef>
      </a:tcTxStyle>
      <a:tcStyle>
        <a:tcBdr/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chemeClr val="accent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2"/>
        </a:fontRef>
      </a:tcTxStyle>
      <a:tcStyle>
        <a:tcBdr/>
        <a:fill>
          <a:gradFill>
            <a:gsLst>
              <a:gs pos="0">
                <a:schemeClr val="accent2">
                  <a:lumMod val="40000"/>
                  <a:lumOff val="60000"/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/>
          </a:gra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4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815590" y="1011555"/>
            <a:ext cx="3042285" cy="544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时间细则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&lt;2日1晚&gt;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当日9时入村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次日15时离村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细则如下: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①一价全包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行程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一方院子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三餐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一夜食（擂茶、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烧烤）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Spa或旅拍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半日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汉服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</a:rPr>
              <a:t>体验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驴车驾驭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无边泳池（季节性）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村落风俗文化集会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村落戏曲会（节假日、</a:t>
            </a:r>
            <a:r>
              <a:rPr lang="en-US" altLang="zh-CN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24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节气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日）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注：村落游历及村俗体验项目可任选其二，其中村俗体验项目超预约需付费体验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endParaRPr lang="zh-CN" altLang="en-US" sz="1400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3430" y="448945"/>
            <a:ext cx="239395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sym typeface="+mn-ea"/>
              </a:rPr>
              <a:t>桃花源云舍村借宿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105785" y="1604645"/>
            <a:ext cx="2501900" cy="3280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书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屋挥墨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书院抄经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箭圃礼射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（古式玩乐项目等）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山野攀爬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村野戏禽（捉泥鳅，摸鱼，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抓鸡）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田园耕种(季节性)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畔池垂钓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水上泛舟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博物苑、五进院参观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以上活动需提前至少</a:t>
            </a:r>
            <a:r>
              <a:rPr 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8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时预约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活动开放时间：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上午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00-12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00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下午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15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00-17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00</a:t>
            </a:r>
            <a:endParaRPr lang="en-US" altLang="zh-CN" sz="1200" b="1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2195" y="1061085"/>
            <a:ext cx="16681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7B3B18"/>
                </a:solidFill>
                <a:latin typeface="Calibri" panose="020F0502020204030204" charset="0"/>
                <a:ea typeface="楷体" panose="02010609060101010101" charset="-122"/>
                <a:cs typeface="楷体" panose="02010609060101010101" charset="-122"/>
                <a:sym typeface="+mn-ea"/>
              </a:rPr>
              <a:t>②</a:t>
            </a:r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村落游历项目：</a:t>
            </a:r>
            <a:endParaRPr lang="zh-CN" altLang="en-US" sz="1400" b="1">
              <a:solidFill>
                <a:srgbClr val="7B3B1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0100" y="604520"/>
            <a:ext cx="239395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sym typeface="+mn-ea"/>
              </a:rPr>
              <a:t>桃花源云舍村借宿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756660" y="854710"/>
            <a:ext cx="16300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solidFill>
                  <a:srgbClr val="7B3B18"/>
                </a:solidFill>
                <a:latin typeface="Calibri" panose="020F0502020204030204" charset="0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r>
              <a:rPr lang="zh-CN" altLang="en-US" sz="1400" b="1">
                <a:solidFill>
                  <a:srgbClr val="7B3B18"/>
                </a:solidFill>
                <a:latin typeface="Calibri" panose="020F0502020204030204" charset="0"/>
                <a:ea typeface="楷体" panose="02010609060101010101" charset="-122"/>
                <a:cs typeface="楷体" panose="02010609060101010101" charset="-122"/>
                <a:sym typeface="+mn-ea"/>
              </a:rPr>
              <a:t>③</a:t>
            </a:r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村俗体验项目</a:t>
            </a:r>
            <a:endParaRPr lang="zh-CN" altLang="en-US" sz="1400" b="1">
              <a:solidFill>
                <a:srgbClr val="7B3B1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（提前</a:t>
            </a:r>
            <a:r>
              <a:rPr lang="en-US" altLang="zh-CN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8</a:t>
            </a:r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小时</a:t>
            </a:r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预约）</a:t>
            </a:r>
            <a:endParaRPr lang="zh-CN" altLang="en-US" sz="1400" b="1">
              <a:solidFill>
                <a:srgbClr val="7B3B1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63620" y="382270"/>
            <a:ext cx="239395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sym typeface="+mn-ea"/>
              </a:rPr>
              <a:t>桃花源云舍村借宿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48460" y="4138295"/>
            <a:ext cx="2393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超过2项活动，需付费预约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298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元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项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人，儿童半价）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2760" y="1553845"/>
            <a:ext cx="2164715" cy="2307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秋收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百香谷制香文化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课程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桃源绣娘刺绣课程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古法音疗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森林瑜珈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茶道课程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花道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课程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书法</a:t>
            </a:r>
            <a:r>
              <a:rPr lang="zh-CN" altLang="en-US" sz="1200" b="1">
                <a:latin typeface="楷体" panose="02010609060101010101" charset="-122"/>
                <a:ea typeface="楷体" panose="02010609060101010101" charset="-122"/>
                <a:sym typeface="+mn-ea"/>
              </a:rPr>
              <a:t>课程</a:t>
            </a:r>
            <a:endParaRPr lang="zh-CN" altLang="en-US" sz="1200" b="1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2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27600" y="1553845"/>
            <a:ext cx="268605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作坊村食制作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采茶制茶（季节性）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竹亭品茶赏乐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抄经赏箫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非遗小手工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缠花体验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八段锦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棋牌乐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会议会展</a:t>
            </a:r>
            <a:endParaRPr lang="zh-CN" altLang="en-US" sz="12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74285" y="4138295"/>
            <a:ext cx="2393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超过2项活动，需付费预约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（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198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元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项</a:t>
            </a:r>
            <a:r>
              <a:rPr lang="en-US" altLang="zh-CN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人，儿童</a:t>
            </a:r>
            <a:r>
              <a:rPr lang="zh-CN" altLang="en-US" sz="1200"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半价）</a:t>
            </a:r>
            <a:endParaRPr lang="zh-CN" altLang="en-US" sz="1200" b="1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62960" y="854710"/>
            <a:ext cx="2055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solidFill>
                  <a:srgbClr val="7B3B18"/>
                </a:solidFill>
                <a:latin typeface="Calibri" panose="020F0502020204030204" charset="0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r>
              <a:rPr lang="en-US" altLang="zh-CN" sz="1600" b="1">
                <a:solidFill>
                  <a:srgbClr val="7B3B18"/>
                </a:solidFill>
                <a:latin typeface="新宋体" panose="02010609030101010101" charset="-122"/>
                <a:ea typeface="新宋体" panose="02010609030101010101" charset="-122"/>
                <a:cs typeface="楷体" panose="02010609060101010101" charset="-122"/>
                <a:sym typeface="+mn-ea"/>
              </a:rPr>
              <a:t>④ </a:t>
            </a:r>
            <a:r>
              <a:rPr lang="zh-CN" altLang="en-US" sz="1400" b="1">
                <a:solidFill>
                  <a:srgbClr val="7B3B1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付费课程体验项目</a:t>
            </a:r>
            <a:endParaRPr lang="zh-CN" altLang="en-US" sz="1400" b="1">
              <a:solidFill>
                <a:srgbClr val="7B3B1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41065" y="382270"/>
            <a:ext cx="2393950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sym typeface="+mn-ea"/>
              </a:rPr>
              <a:t>桃花源云舍村借宿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63620" y="1786255"/>
            <a:ext cx="20554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￭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琴风雅韵（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古琴）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￭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sym typeface="+mn-ea"/>
              </a:rPr>
              <a:t>传世香韵（合香珠）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16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￭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sym typeface="+mn-ea"/>
              </a:rPr>
              <a:t>静品茶韵（茶艺）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87065" y="3850005"/>
            <a:ext cx="34804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费用说明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、借宿归客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498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元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、外客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1280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元无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天（含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个餐）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、最低开课人数为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、如需单人开课，按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人班的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75%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付费</a:t>
            </a:r>
            <a:endParaRPr lang="zh-CN" altLang="en-US" sz="1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73480" y="1485900"/>
            <a:ext cx="7103110" cy="2708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>
                <a:solidFill>
                  <a:schemeClr val="accent3">
                    <a:lumMod val="50000"/>
                  </a:schemeClr>
                </a:solidFill>
                <a:latin typeface="腾祥童宋体简" panose="01010104010101010101" charset="-122"/>
                <a:ea typeface="腾祥童宋体简" panose="01010104010101010101" charset="-122"/>
                <a:cs typeface="腾祥童宋体简" panose="01010104010101010101" charset="-122"/>
              </a:rPr>
              <a:t>欢迎您造访桃花源</a:t>
            </a:r>
            <a:r>
              <a:rPr lang="en-US" altLang="zh-CN" sz="2000">
                <a:solidFill>
                  <a:schemeClr val="accent3">
                    <a:lumMod val="50000"/>
                  </a:schemeClr>
                </a:solidFill>
                <a:latin typeface="腾祥童宋体简" panose="01010104010101010101" charset="-122"/>
                <a:ea typeface="腾祥童宋体简" panose="01010104010101010101" charset="-122"/>
                <a:cs typeface="腾祥童宋体简" panose="01010104010101010101" charset="-122"/>
              </a:rPr>
              <a:t> </a:t>
            </a:r>
            <a:r>
              <a:rPr lang="zh-CN" altLang="en-US" sz="2000">
                <a:solidFill>
                  <a:schemeClr val="accent3">
                    <a:lumMod val="50000"/>
                  </a:schemeClr>
                </a:solidFill>
                <a:latin typeface="腾祥童宋体简" panose="01010104010101010101" charset="-122"/>
                <a:ea typeface="腾祥童宋体简" panose="01010104010101010101" charset="-122"/>
                <a:cs typeface="腾祥童宋体简" panose="01010104010101010101" charset="-122"/>
              </a:rPr>
              <a:t>云舍村</a:t>
            </a:r>
            <a:endParaRPr lang="zh-CN" altLang="en-US" sz="2000">
              <a:solidFill>
                <a:schemeClr val="accent3">
                  <a:lumMod val="50000"/>
                </a:schemeClr>
              </a:solidFill>
              <a:latin typeface="腾祥童宋体简" panose="01010104010101010101" charset="-122"/>
              <a:ea typeface="腾祥童宋体简" panose="01010104010101010101" charset="-122"/>
              <a:cs typeface="腾祥童宋体简" panose="01010104010101010101" charset="-122"/>
            </a:endParaRPr>
          </a:p>
          <a:p>
            <a:pPr algn="ctr"/>
            <a:endParaRPr lang="zh-CN" altLang="en-US">
              <a:solidFill>
                <a:schemeClr val="accent3">
                  <a:lumMod val="50000"/>
                </a:schemeClr>
              </a:solidFill>
              <a:latin typeface="腾祥童宋体简" panose="01010104010101010101" charset="-122"/>
              <a:ea typeface="腾祥童宋体简" panose="01010104010101010101" charset="-122"/>
              <a:cs typeface="腾祥童宋体简" panose="0101010401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•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接到您的预定借宿单，管家会在第一时间与您联系，定制您的归村村落行程，并出具行程单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与您确认；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管家服务时间：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8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00-12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00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；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14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3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0-21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00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，其他时间您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可以自由活动；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用餐时间：早餐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8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:00-10:00;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中餐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12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00-14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00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；晚餐：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17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00-19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00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•归居期间您有任何需求，可微信联系管家；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•管家可提供友情拍照服务，如您需高质量拍摄，需另安排摄影师（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自费）；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algn="ctr" fontAlgn="auto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accent3">
                  <a:lumMod val="50000"/>
                </a:schemeClr>
              </a:solidFill>
              <a:latin typeface="腾祥童宋体简" panose="01010104010101010101" charset="-122"/>
              <a:ea typeface="腾祥童宋体简" panose="0101010401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76095" y="407035"/>
            <a:ext cx="5662295" cy="5930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致归客（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归居村民）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云舍村提供的不是一间客房，而是一个村落；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不是一种服务，而是一种生活；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不是一种自我修复，而是一种自我悟得和发现。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en-US" altLang="zh-CN" sz="10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这里，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最昂贵的是山水，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最奢华的是文化，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最无价的是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归客（归居村民）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触入山水文化的无我之境。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en-US" altLang="zh-CN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云舍村不是一个产品，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不是一个商品，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而是一件作品，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一件需要常住村民和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归居村民</a:t>
            </a:r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共同创作的作品。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这样的作品，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在国内文旅界没有对标。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en-US" altLang="zh-CN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云舍村追求的不是奢华，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而是将奢华归于平淡；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请别将云舍村与民宿，度假酒店对标。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en-US" altLang="zh-CN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云舍村迎接的不是尊贵客人，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而是远游回归家乡的邻里友朋。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                      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桃花源云舍村 欢迎您归村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90545" y="227330"/>
            <a:ext cx="443738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村舍预定信息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en-US" altLang="zh-CN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客人姓名：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入村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日期：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离村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日期：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标准入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村人数：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实际入</a:t>
            </a: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村人数：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房型：</a:t>
            </a:r>
            <a:endParaRPr lang="en-US" altLang="zh-CN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房号：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客人来源：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价格体系：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结账方式：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专管：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管家：</a:t>
            </a:r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备注：</a:t>
            </a:r>
            <a:endParaRPr lang="en-US" altLang="zh-CN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16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95855" y="5544820"/>
            <a:ext cx="472186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相关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费用：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、云舍村村内活动项目按标准入村人数提供，超出人数管家需与客户沟通费用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问题；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理疗空间、疗愈空间项目，每人（成人）每间夜限预约1次】。</a:t>
            </a:r>
            <a:endParaRPr lang="zh-CN" altLang="en-US" sz="1400">
              <a:solidFill>
                <a:schemeClr val="accent3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439545" y="411480"/>
          <a:ext cx="6405880" cy="5845810"/>
        </p:xfrm>
        <a:graphic>
          <a:graphicData uri="http://schemas.openxmlformats.org/drawingml/2006/table">
            <a:tbl>
              <a:tblPr firstRow="1">
                <a:tableStyleId>{6B41B938-3355-471B-9B6E-3FD9F12B1EE1}</a:tableStyleId>
              </a:tblPr>
              <a:tblGrid>
                <a:gridCol w="2282190"/>
                <a:gridCol w="2392045"/>
                <a:gridCol w="1731645"/>
              </a:tblGrid>
              <a:tr h="23304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地点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项目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时间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749300"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栋草庐（雨天）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6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人</a:t>
                      </a:r>
                      <a:b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博物苑前坪（晴天）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6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人</a:t>
                      </a:r>
                      <a:b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书屋前坪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人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八段锦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00-8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村道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驴车驾驭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9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鸡舍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捡鸡蛋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9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30-10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南门池塘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畔池垂钓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8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汉服馆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汉服体验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384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百香谷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香文化制香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非遗金箔画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320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非遗珐琅掐丝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非遗螺钿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384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书法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古籍阅读、抄经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3840"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无边泳池（夏季开放）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8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百香谷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山野攀爬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栋草庐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草庐品茗、冥想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SPA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预约制，项目三选一</a:t>
                      </a:r>
                      <a:b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足浴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药浴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疗愈空间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瑜伽或疗愈（视情况定）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非遗簪花制作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刺绣体验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4447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博物苑、戏楼风俗文化参观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056765" y="102870"/>
          <a:ext cx="5506720" cy="6365875"/>
        </p:xfrm>
        <a:graphic>
          <a:graphicData uri="http://schemas.openxmlformats.org/drawingml/2006/table">
            <a:tbl>
              <a:tblPr firstRow="1">
                <a:tableStyleId>{CADFFDED-71B5-4089-BDE4-F04CE8E0D2E4}</a:tableStyleId>
              </a:tblPr>
              <a:tblGrid>
                <a:gridCol w="1956435"/>
                <a:gridCol w="1894205"/>
                <a:gridCol w="1656080"/>
              </a:tblGrid>
              <a:tr h="215265"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地点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项目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时间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南门池塘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畔池垂钓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558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非遗金箔画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非遗珐琅掐丝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非遗螺钿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书法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22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书屋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古籍阅读、抄经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558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山房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植物印染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汉服馆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汉服体验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稻田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捉泥鳅、摸鱼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49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栋草庐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草庐品茗、冥想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781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SPA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预约制，项目三选一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b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5654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足浴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25654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药浴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15049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非遗簪花制作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桃源刺绣体验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495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古式玩乐项目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箭圃射箭、投壶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22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烤奶茶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22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打豆腐、做糍粑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糖葫芦、糖画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00-20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558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箭圃射箭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22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集市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草坪抓鸡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22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疗愈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空间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瑜伽或疗愈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685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博物苑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博物苑、戏楼风俗文化参观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00-17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234950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村道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驴车驾驭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30-16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536700" y="1632585"/>
          <a:ext cx="6259195" cy="3465195"/>
        </p:xfrm>
        <a:graphic>
          <a:graphicData uri="http://schemas.openxmlformats.org/drawingml/2006/table">
            <a:tbl>
              <a:tblPr firstRow="1">
                <a:tableStyleId>{9DB17C4E-C640-4BE9-8BAC-EAF23F2CB908}</a:tableStyleId>
              </a:tblPr>
              <a:tblGrid>
                <a:gridCol w="2115820"/>
                <a:gridCol w="2046605"/>
                <a:gridCol w="2096770"/>
              </a:tblGrid>
              <a:tr h="431800"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</a:rPr>
                        <a:t>地点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</a:rPr>
                        <a:t>项目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</a:rPr>
                        <a:t>时间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432435"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无边泳池（夏季开放）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19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43180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</a:rPr>
                        <a:t>SPA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预约制，项目三选一</a:t>
                      </a:r>
                      <a:b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19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b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</a:b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00-23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</a:t>
                      </a:r>
                      <a:endParaRPr lang="en-US" altLang="zh-CN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43243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足浴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43243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理疗空间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-31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栋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药浴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431800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戏楼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戏曲表演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定期举办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（见节气日历）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  <a:tr h="43243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集市（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大集会）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村落风俗文化表演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 vMerge="1">
                  <a:tcPr/>
                </a:tc>
              </a:tr>
              <a:tr h="440055"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集市（小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集会）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</a:rPr>
                        <a:t>集市烧烤、擂茶、欢唱</a:t>
                      </a:r>
                      <a:endParaRPr lang="zh-CN" altLang="en-US" sz="1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每周五，六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19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00-21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：</a:t>
                      </a:r>
                      <a:r>
                        <a:rPr lang="en-US" altLang="zh-CN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30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其他时间，根据归客预约定制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64*458"/>
  <p:tag name="TABLE_ENDDRAG_RECT" val="98*44*464*458"/>
</p:tagLst>
</file>

<file path=ppt/tags/tag2.xml><?xml version="1.0" encoding="utf-8"?>
<p:tagLst xmlns:p="http://schemas.openxmlformats.org/presentationml/2006/main">
  <p:tag name="TABLE_ENDDRAG_ORIGIN_RECT" val="433*508"/>
  <p:tag name="TABLE_ENDDRAG_RECT" val="161*8*433*508"/>
</p:tagLst>
</file>

<file path=ppt/tags/tag3.xml><?xml version="1.0" encoding="utf-8"?>
<p:tagLst xmlns:p="http://schemas.openxmlformats.org/presentationml/2006/main">
  <p:tag name="TABLE_ENDDRAG_ORIGIN_RECT" val="492*272"/>
  <p:tag name="TABLE_ENDDRAG_RECT" val="121*128*492*272"/>
</p:tagLst>
</file>

<file path=ppt/tags/tag4.xml><?xml version="1.0" encoding="utf-8"?>
<p:tagLst xmlns:p="http://schemas.openxmlformats.org/presentationml/2006/main">
  <p:tag name="commondata" val="eyJoZGlkIjoiMDI2YmM3NzI4YWVmNTRlMzIwZTdkYjg4MTEyNjRkZDkifQ=="/>
  <p:tag name="resource_record_key" val="{&quot;29&quot;:[50053246,50053145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2413</Words>
  <Application>WPS 演示</Application>
  <PresentationFormat>宽屏</PresentationFormat>
  <Paragraphs>491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楷体</vt:lpstr>
      <vt:lpstr>Calibri</vt:lpstr>
      <vt:lpstr>新宋体</vt:lpstr>
      <vt:lpstr>微软雅黑</vt:lpstr>
      <vt:lpstr>腾祥童宋体简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潘小果 </cp:lastModifiedBy>
  <cp:revision>17</cp:revision>
  <dcterms:created xsi:type="dcterms:W3CDTF">2023-08-09T12:44:00Z</dcterms:created>
  <dcterms:modified xsi:type="dcterms:W3CDTF">2026-08-11T02:37:45Z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C426D0B630CA4554A3D1E8AE076E6E25_13</vt:lpwstr>
  </property>
  <property fmtid="{D5CDD505-2E9C-101B-9397-08002B2CF9AE}" pid="3" name="KSOProductBuildVer">
    <vt:lpwstr>2052-12.1.0.28043</vt:lpwstr>
  </property>
</Properties>
</file>